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8" r:id="rId3"/>
    <p:sldId id="260" r:id="rId4"/>
    <p:sldId id="282" r:id="rId5"/>
    <p:sldId id="277" r:id="rId6"/>
    <p:sldId id="266" r:id="rId7"/>
    <p:sldId id="280" r:id="rId8"/>
    <p:sldId id="274" r:id="rId9"/>
    <p:sldId id="278" r:id="rId10"/>
    <p:sldId id="271" r:id="rId11"/>
    <p:sldId id="275" r:id="rId12"/>
    <p:sldId id="283" r:id="rId13"/>
    <p:sldId id="284" r:id="rId14"/>
    <p:sldId id="281" r:id="rId15"/>
    <p:sldId id="272" r:id="rId16"/>
    <p:sldId id="276"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ior Sesario Huanca Acebo" initials="JH" lastIdx="1" clrIdx="0">
    <p:extLst>
      <p:ext uri="{19B8F6BF-5375-455C-9EA6-DF929625EA0E}">
        <p15:presenceInfo xmlns:p15="http://schemas.microsoft.com/office/powerpoint/2012/main" userId="e354beeb9ff7366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42" autoAdjust="0"/>
    <p:restoredTop sz="94660"/>
  </p:normalViewPr>
  <p:slideViewPr>
    <p:cSldViewPr snapToGrid="0">
      <p:cViewPr varScale="1">
        <p:scale>
          <a:sx n="91" d="100"/>
          <a:sy n="91" d="100"/>
        </p:scale>
        <p:origin x="53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377782FB-2208-44AE-9EB6-89F0E8E68D45}" type="datetimeFigureOut">
              <a:rPr lang="es-BO" smtClean="0"/>
              <a:t>25/6/2025</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350053413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77782FB-2208-44AE-9EB6-89F0E8E68D45}" type="datetimeFigureOut">
              <a:rPr lang="es-BO" smtClean="0"/>
              <a:t>25/6/2025</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4089244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377782FB-2208-44AE-9EB6-89F0E8E68D45}" type="datetimeFigureOut">
              <a:rPr lang="es-BO" smtClean="0"/>
              <a:t>25/6/2025</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201355953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377782FB-2208-44AE-9EB6-89F0E8E68D45}" type="datetimeFigureOut">
              <a:rPr lang="es-BO" smtClean="0"/>
              <a:t>25/6/2025</a:t>
            </a:fld>
            <a:endParaRPr lang="es-BO"/>
          </a:p>
        </p:txBody>
      </p:sp>
      <p:sp>
        <p:nvSpPr>
          <p:cNvPr id="9" name="Footer Placeholder 8"/>
          <p:cNvSpPr>
            <a:spLocks noGrp="1"/>
          </p:cNvSpPr>
          <p:nvPr>
            <p:ph type="ftr" sz="quarter" idx="11"/>
          </p:nvPr>
        </p:nvSpPr>
        <p:spPr/>
        <p:txBody>
          <a:bodyPr/>
          <a:lstStyle/>
          <a:p>
            <a:endParaRPr lang="es-BO"/>
          </a:p>
        </p:txBody>
      </p:sp>
      <p:sp>
        <p:nvSpPr>
          <p:cNvPr id="10" name="Slide Number Placeholder 9"/>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2279866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377782FB-2208-44AE-9EB6-89F0E8E68D45}" type="datetimeFigureOut">
              <a:rPr lang="es-BO" smtClean="0"/>
              <a:t>25/6/2025</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B8069FF0-6333-41D4-8DEB-7EE80A09DC21}" type="slidenum">
              <a:rPr lang="es-BO" smtClean="0"/>
              <a:t>‹Nº›</a:t>
            </a:fld>
            <a:endParaRPr lang="es-BO"/>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168192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77782FB-2208-44AE-9EB6-89F0E8E68D45}" type="datetimeFigureOut">
              <a:rPr lang="es-BO" smtClean="0"/>
              <a:t>25/6/2025</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2562209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7782FB-2208-44AE-9EB6-89F0E8E68D45}" type="datetimeFigureOut">
              <a:rPr lang="es-BO" smtClean="0"/>
              <a:t>25/6/2025</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1837252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377782FB-2208-44AE-9EB6-89F0E8E68D45}" type="datetimeFigureOut">
              <a:rPr lang="es-BO" smtClean="0"/>
              <a:t>25/6/2025</a:t>
            </a:fld>
            <a:endParaRPr lang="es-BO"/>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BO"/>
          </a:p>
        </p:txBody>
      </p:sp>
      <p:sp>
        <p:nvSpPr>
          <p:cNvPr id="11" name="Slide Number Placeholder 10"/>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1599898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77782FB-2208-44AE-9EB6-89F0E8E68D45}" type="datetimeFigureOut">
              <a:rPr lang="es-BO" smtClean="0"/>
              <a:t>25/6/2025</a:t>
            </a:fld>
            <a:endParaRPr lang="es-BO"/>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BO"/>
          </a:p>
        </p:txBody>
      </p:sp>
      <p:sp>
        <p:nvSpPr>
          <p:cNvPr id="10" name="Slide Number Placeholder 9"/>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2015143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77782FB-2208-44AE-9EB6-89F0E8E68D45}" type="datetimeFigureOut">
              <a:rPr lang="es-BO" smtClean="0"/>
              <a:t>25/6/2025</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1617798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77782FB-2208-44AE-9EB6-89F0E8E68D45}" type="datetimeFigureOut">
              <a:rPr lang="es-BO" smtClean="0"/>
              <a:t>25/6/2025</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B8069FF0-6333-41D4-8DEB-7EE80A09DC21}" type="slidenum">
              <a:rPr lang="es-BO" smtClean="0"/>
              <a:t>‹Nº›</a:t>
            </a:fld>
            <a:endParaRPr lang="es-BO"/>
          </a:p>
        </p:txBody>
      </p:sp>
    </p:spTree>
    <p:extLst>
      <p:ext uri="{BB962C8B-B14F-4D97-AF65-F5344CB8AC3E}">
        <p14:creationId xmlns:p14="http://schemas.microsoft.com/office/powerpoint/2010/main" val="3190613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77782FB-2208-44AE-9EB6-89F0E8E68D45}" type="datetimeFigureOut">
              <a:rPr lang="es-BO" smtClean="0"/>
              <a:t>25/6/2025</a:t>
            </a:fld>
            <a:endParaRPr lang="es-BO"/>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s-BO"/>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B8069FF0-6333-41D4-8DEB-7EE80A09DC21}" type="slidenum">
              <a:rPr lang="es-BO" smtClean="0"/>
              <a:t>‹Nº›</a:t>
            </a:fld>
            <a:endParaRPr lang="es-BO"/>
          </a:p>
        </p:txBody>
      </p:sp>
    </p:spTree>
    <p:extLst>
      <p:ext uri="{BB962C8B-B14F-4D97-AF65-F5344CB8AC3E}">
        <p14:creationId xmlns:p14="http://schemas.microsoft.com/office/powerpoint/2010/main" val="11699462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6.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6.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FC3CE-42AD-4D91-844D-FC5F9D5F96F5}"/>
              </a:ext>
            </a:extLst>
          </p:cNvPr>
          <p:cNvSpPr>
            <a:spLocks noGrp="1"/>
          </p:cNvSpPr>
          <p:nvPr>
            <p:ph type="title"/>
          </p:nvPr>
        </p:nvSpPr>
        <p:spPr>
          <a:xfrm>
            <a:off x="4072157" y="3828506"/>
            <a:ext cx="3589850" cy="620486"/>
          </a:xfrm>
        </p:spPr>
        <p:txBody>
          <a:bodyPr>
            <a:normAutofit fontScale="90000"/>
          </a:bodyPr>
          <a:lstStyle/>
          <a:p>
            <a:r>
              <a:rPr lang="es-BO" dirty="0"/>
              <a:t>VISIONSAFE</a:t>
            </a:r>
          </a:p>
        </p:txBody>
      </p:sp>
      <p:pic>
        <p:nvPicPr>
          <p:cNvPr id="1026" name="Picture 2" descr="AI technology brain background digital transformation concept">
            <a:extLst>
              <a:ext uri="{FF2B5EF4-FFF2-40B4-BE49-F238E27FC236}">
                <a16:creationId xmlns:a16="http://schemas.microsoft.com/office/drawing/2014/main" id="{5D61C2A6-A03E-089F-4B95-FE4F74679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3345877"/>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7E3BE5CA-3A72-759F-EDF8-297D1648E1B6}"/>
              </a:ext>
            </a:extLst>
          </p:cNvPr>
          <p:cNvSpPr txBox="1"/>
          <p:nvPr/>
        </p:nvSpPr>
        <p:spPr>
          <a:xfrm>
            <a:off x="3768759" y="4931621"/>
            <a:ext cx="4196646" cy="369332"/>
          </a:xfrm>
          <a:prstGeom prst="rect">
            <a:avLst/>
          </a:prstGeom>
          <a:noFill/>
        </p:spPr>
        <p:txBody>
          <a:bodyPr wrap="square">
            <a:spAutoFit/>
          </a:bodyPr>
          <a:lstStyle/>
          <a:p>
            <a:r>
              <a:rPr lang="es-MX" dirty="0"/>
              <a:t>Tu mundo más seguro, con solo una visión.</a:t>
            </a:r>
          </a:p>
        </p:txBody>
      </p:sp>
      <p:pic>
        <p:nvPicPr>
          <p:cNvPr id="4" name="Imagen 3">
            <a:extLst>
              <a:ext uri="{FF2B5EF4-FFF2-40B4-BE49-F238E27FC236}">
                <a16:creationId xmlns:a16="http://schemas.microsoft.com/office/drawing/2014/main" id="{C4206BBE-DC5F-A8F9-C427-879834155AC6}"/>
              </a:ext>
            </a:extLst>
          </p:cNvPr>
          <p:cNvPicPr>
            <a:picLocks noChangeAspect="1"/>
          </p:cNvPicPr>
          <p:nvPr/>
        </p:nvPicPr>
        <p:blipFill>
          <a:blip r:embed="rId3"/>
          <a:stretch>
            <a:fillRect/>
          </a:stretch>
        </p:blipFill>
        <p:spPr>
          <a:xfrm>
            <a:off x="533400" y="3552401"/>
            <a:ext cx="2738120" cy="2738120"/>
          </a:xfrm>
          <a:prstGeom prst="rect">
            <a:avLst/>
          </a:prstGeom>
        </p:spPr>
      </p:pic>
      <p:pic>
        <p:nvPicPr>
          <p:cNvPr id="7170" name="Picture 2">
            <a:extLst>
              <a:ext uri="{FF2B5EF4-FFF2-40B4-BE49-F238E27FC236}">
                <a16:creationId xmlns:a16="http://schemas.microsoft.com/office/drawing/2014/main" id="{B5AF5338-B073-7865-909E-F1BFB8C04A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2645" y="3730836"/>
            <a:ext cx="33337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574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050" name="Picture 2" descr="Man touching a virtual screen futuristic technology digital remix">
            <a:extLst>
              <a:ext uri="{FF2B5EF4-FFF2-40B4-BE49-F238E27FC236}">
                <a16:creationId xmlns:a16="http://schemas.microsoft.com/office/drawing/2014/main" id="{FA6C3ADF-80AF-61F9-F0BB-E6D6D82F2EB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b="15414"/>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0404203-C461-46C3-21E2-5C44D99C7C13}"/>
              </a:ext>
            </a:extLst>
          </p:cNvPr>
          <p:cNvSpPr txBox="1"/>
          <p:nvPr/>
        </p:nvSpPr>
        <p:spPr>
          <a:xfrm>
            <a:off x="870857" y="5253837"/>
            <a:ext cx="4685211" cy="584775"/>
          </a:xfrm>
          <a:prstGeom prst="rect">
            <a:avLst/>
          </a:prstGeom>
          <a:noFill/>
        </p:spPr>
        <p:txBody>
          <a:bodyPr wrap="square">
            <a:spAutoFit/>
          </a:bodyPr>
          <a:lstStyle/>
          <a:p>
            <a:pPr marL="457200" indent="-457200">
              <a:buFont typeface="Wingdings" panose="05000000000000000000" pitchFamily="2" charset="2"/>
              <a:buChar char="§"/>
            </a:pPr>
            <a:r>
              <a:rPr lang="es-MX" sz="3200" b="1" dirty="0">
                <a:solidFill>
                  <a:schemeClr val="bg2"/>
                </a:solidFill>
                <a:effectLst>
                  <a:outerShdw blurRad="38100" dist="38100" dir="2700000" algn="tl">
                    <a:srgbClr val="000000">
                      <a:alpha val="43137"/>
                    </a:srgbClr>
                  </a:outerShdw>
                </a:effectLst>
              </a:rPr>
              <a:t>Problema / Solución</a:t>
            </a:r>
            <a:endParaRPr lang="es-MX" sz="32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0789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57FB0-7611-4D07-A3B0-4F444F1EF3BC}"/>
              </a:ext>
            </a:extLst>
          </p:cNvPr>
          <p:cNvSpPr>
            <a:spLocks noGrp="1"/>
          </p:cNvSpPr>
          <p:nvPr>
            <p:ph type="title"/>
          </p:nvPr>
        </p:nvSpPr>
        <p:spPr>
          <a:xfrm>
            <a:off x="3828776" y="702559"/>
            <a:ext cx="4534448" cy="568894"/>
          </a:xfrm>
        </p:spPr>
        <p:txBody>
          <a:bodyPr>
            <a:normAutofit fontScale="90000"/>
          </a:bodyPr>
          <a:lstStyle/>
          <a:p>
            <a:r>
              <a:rPr lang="es-ES" cap="none" dirty="0"/>
              <a:t>PROBLEMA</a:t>
            </a:r>
            <a:endParaRPr lang="es-BO" cap="none" dirty="0"/>
          </a:p>
        </p:txBody>
      </p:sp>
      <p:sp>
        <p:nvSpPr>
          <p:cNvPr id="12" name="CuadroTexto 11">
            <a:extLst>
              <a:ext uri="{FF2B5EF4-FFF2-40B4-BE49-F238E27FC236}">
                <a16:creationId xmlns:a16="http://schemas.microsoft.com/office/drawing/2014/main" id="{E3074452-51E3-240E-1B8A-3125F817CA5D}"/>
              </a:ext>
            </a:extLst>
          </p:cNvPr>
          <p:cNvSpPr txBox="1"/>
          <p:nvPr/>
        </p:nvSpPr>
        <p:spPr>
          <a:xfrm>
            <a:off x="923600" y="5330352"/>
            <a:ext cx="2697305" cy="369332"/>
          </a:xfrm>
          <a:prstGeom prst="rect">
            <a:avLst/>
          </a:prstGeom>
          <a:noFill/>
        </p:spPr>
        <p:txBody>
          <a:bodyPr wrap="square">
            <a:spAutoFit/>
          </a:bodyPr>
          <a:lstStyle/>
          <a:p>
            <a:pPr algn="ctr"/>
            <a:r>
              <a:rPr lang="es-ES" dirty="0"/>
              <a:t>Aeropuertos</a:t>
            </a:r>
            <a:endParaRPr lang="es-MX" dirty="0"/>
          </a:p>
        </p:txBody>
      </p:sp>
      <p:sp>
        <p:nvSpPr>
          <p:cNvPr id="15" name="CuadroTexto 14">
            <a:extLst>
              <a:ext uri="{FF2B5EF4-FFF2-40B4-BE49-F238E27FC236}">
                <a16:creationId xmlns:a16="http://schemas.microsoft.com/office/drawing/2014/main" id="{65F911FE-EF10-1893-D569-0C76010D5FC1}"/>
              </a:ext>
            </a:extLst>
          </p:cNvPr>
          <p:cNvSpPr txBox="1"/>
          <p:nvPr/>
        </p:nvSpPr>
        <p:spPr>
          <a:xfrm>
            <a:off x="4747347" y="5328490"/>
            <a:ext cx="2697305" cy="369332"/>
          </a:xfrm>
          <a:prstGeom prst="rect">
            <a:avLst/>
          </a:prstGeom>
          <a:noFill/>
        </p:spPr>
        <p:txBody>
          <a:bodyPr wrap="square">
            <a:spAutoFit/>
          </a:bodyPr>
          <a:lstStyle/>
          <a:p>
            <a:pPr algn="ctr"/>
            <a:r>
              <a:rPr lang="es-MX" dirty="0"/>
              <a:t>Boliches</a:t>
            </a:r>
          </a:p>
        </p:txBody>
      </p:sp>
      <p:sp>
        <p:nvSpPr>
          <p:cNvPr id="17" name="CuadroTexto 16">
            <a:extLst>
              <a:ext uri="{FF2B5EF4-FFF2-40B4-BE49-F238E27FC236}">
                <a16:creationId xmlns:a16="http://schemas.microsoft.com/office/drawing/2014/main" id="{D572CA5B-DAA1-0DCE-451E-BE5E23B30E15}"/>
              </a:ext>
            </a:extLst>
          </p:cNvPr>
          <p:cNvSpPr txBox="1"/>
          <p:nvPr/>
        </p:nvSpPr>
        <p:spPr>
          <a:xfrm>
            <a:off x="8571094" y="5328490"/>
            <a:ext cx="2944856" cy="369332"/>
          </a:xfrm>
          <a:prstGeom prst="rect">
            <a:avLst/>
          </a:prstGeom>
          <a:noFill/>
        </p:spPr>
        <p:txBody>
          <a:bodyPr wrap="square">
            <a:spAutoFit/>
          </a:bodyPr>
          <a:lstStyle/>
          <a:p>
            <a:pPr algn="ctr"/>
            <a:r>
              <a:rPr lang="es-MX" dirty="0"/>
              <a:t>Empresas públicas / privadas</a:t>
            </a:r>
          </a:p>
        </p:txBody>
      </p:sp>
      <p:pic>
        <p:nvPicPr>
          <p:cNvPr id="6148" name="Picture 4" descr="Nightlife people having fun in bars and clubs">
            <a:extLst>
              <a:ext uri="{FF2B5EF4-FFF2-40B4-BE49-F238E27FC236}">
                <a16:creationId xmlns:a16="http://schemas.microsoft.com/office/drawing/2014/main" id="{24FC25A1-48F2-2715-72A6-26E452EF02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74" r="5027"/>
          <a:stretch>
            <a:fillRect/>
          </a:stretch>
        </p:blipFill>
        <p:spPr bwMode="auto">
          <a:xfrm>
            <a:off x="4459836" y="2733536"/>
            <a:ext cx="3210560" cy="234791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6150" name="Picture 6" descr="Vídeo: Captan pelea en el Aeropuerto Internacional de Miami, Florida| Red  Uno de Bolivia">
            <a:extLst>
              <a:ext uri="{FF2B5EF4-FFF2-40B4-BE49-F238E27FC236}">
                <a16:creationId xmlns:a16="http://schemas.microsoft.com/office/drawing/2014/main" id="{748610BD-7963-2A97-139B-4219D4AA3D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9628"/>
          <a:stretch>
            <a:fillRect/>
          </a:stretch>
        </p:blipFill>
        <p:spPr bwMode="auto">
          <a:xfrm>
            <a:off x="797010" y="2733536"/>
            <a:ext cx="2950486" cy="234791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6152" name="Picture 8" descr="Peleas en la empresa justifican el despido (Casación Laboral N° 12711-2017  Cajamarca)">
            <a:extLst>
              <a:ext uri="{FF2B5EF4-FFF2-40B4-BE49-F238E27FC236}">
                <a16:creationId xmlns:a16="http://schemas.microsoft.com/office/drawing/2014/main" id="{D81C1521-9BF8-143A-F153-1DFEB10A1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56" r="10538"/>
          <a:stretch>
            <a:fillRect/>
          </a:stretch>
        </p:blipFill>
        <p:spPr bwMode="auto">
          <a:xfrm>
            <a:off x="8382737" y="2733536"/>
            <a:ext cx="3012253" cy="234791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C8EA9EF-92B9-7467-2456-DD5A4534DBA7}"/>
              </a:ext>
            </a:extLst>
          </p:cNvPr>
          <p:cNvSpPr txBox="1"/>
          <p:nvPr/>
        </p:nvSpPr>
        <p:spPr>
          <a:xfrm>
            <a:off x="923600" y="1445656"/>
            <a:ext cx="10403840" cy="961417"/>
          </a:xfrm>
          <a:prstGeom prst="rect">
            <a:avLst/>
          </a:prstGeom>
          <a:noFill/>
        </p:spPr>
        <p:txBody>
          <a:bodyPr wrap="square">
            <a:spAutoFit/>
          </a:bodyPr>
          <a:lstStyle/>
          <a:p>
            <a:pPr algn="ctr">
              <a:lnSpc>
                <a:spcPct val="150000"/>
              </a:lnSpc>
            </a:pPr>
            <a:r>
              <a:rPr lang="es-ES" sz="2000" dirty="0"/>
              <a:t>Altos índices de violencia en áreas concurridas (aeropuertos, boliches, empresas públicas o privadas, plazas, etc.) donde agresiones físicas y disturbios escalan rápidamente.</a:t>
            </a:r>
            <a:endParaRPr lang="es-MX" sz="2000" dirty="0"/>
          </a:p>
        </p:txBody>
      </p:sp>
    </p:spTree>
    <p:extLst>
      <p:ext uri="{BB962C8B-B14F-4D97-AF65-F5344CB8AC3E}">
        <p14:creationId xmlns:p14="http://schemas.microsoft.com/office/powerpoint/2010/main" val="1352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F19C3-BD6F-CE6C-2B3A-AD124E21E569}"/>
            </a:ext>
          </a:extLst>
        </p:cNvPr>
        <p:cNvGrpSpPr/>
        <p:nvPr/>
      </p:nvGrpSpPr>
      <p:grpSpPr>
        <a:xfrm>
          <a:off x="0" y="0"/>
          <a:ext cx="0" cy="0"/>
          <a:chOff x="0" y="0"/>
          <a:chExt cx="0" cy="0"/>
        </a:xfrm>
      </p:grpSpPr>
      <p:sp>
        <p:nvSpPr>
          <p:cNvPr id="12" name="CuadroTexto 11">
            <a:extLst>
              <a:ext uri="{FF2B5EF4-FFF2-40B4-BE49-F238E27FC236}">
                <a16:creationId xmlns:a16="http://schemas.microsoft.com/office/drawing/2014/main" id="{A3474691-93BD-6A20-717B-2E32A178BBE9}"/>
              </a:ext>
            </a:extLst>
          </p:cNvPr>
          <p:cNvSpPr txBox="1"/>
          <p:nvPr/>
        </p:nvSpPr>
        <p:spPr>
          <a:xfrm>
            <a:off x="1113552" y="5726592"/>
            <a:ext cx="2697305" cy="369332"/>
          </a:xfrm>
          <a:prstGeom prst="rect">
            <a:avLst/>
          </a:prstGeom>
          <a:noFill/>
        </p:spPr>
        <p:txBody>
          <a:bodyPr wrap="square">
            <a:spAutoFit/>
          </a:bodyPr>
          <a:lstStyle/>
          <a:p>
            <a:pPr algn="ctr"/>
            <a:r>
              <a:rPr lang="es-ES" dirty="0"/>
              <a:t>Inteligencia Artificial</a:t>
            </a:r>
            <a:endParaRPr lang="es-MX" dirty="0"/>
          </a:p>
        </p:txBody>
      </p:sp>
      <p:sp>
        <p:nvSpPr>
          <p:cNvPr id="15" name="CuadroTexto 14">
            <a:extLst>
              <a:ext uri="{FF2B5EF4-FFF2-40B4-BE49-F238E27FC236}">
                <a16:creationId xmlns:a16="http://schemas.microsoft.com/office/drawing/2014/main" id="{2CD1125D-EBB2-331A-BF01-4E2EAB34B4E2}"/>
              </a:ext>
            </a:extLst>
          </p:cNvPr>
          <p:cNvSpPr txBox="1"/>
          <p:nvPr/>
        </p:nvSpPr>
        <p:spPr>
          <a:xfrm>
            <a:off x="4776867" y="5816170"/>
            <a:ext cx="2697305" cy="369332"/>
          </a:xfrm>
          <a:prstGeom prst="rect">
            <a:avLst/>
          </a:prstGeom>
          <a:noFill/>
        </p:spPr>
        <p:txBody>
          <a:bodyPr wrap="square">
            <a:spAutoFit/>
          </a:bodyPr>
          <a:lstStyle/>
          <a:p>
            <a:pPr algn="ctr"/>
            <a:r>
              <a:rPr lang="es-MX" dirty="0"/>
              <a:t>Cámaras de seguridad</a:t>
            </a:r>
          </a:p>
        </p:txBody>
      </p:sp>
      <p:sp>
        <p:nvSpPr>
          <p:cNvPr id="17" name="CuadroTexto 16">
            <a:extLst>
              <a:ext uri="{FF2B5EF4-FFF2-40B4-BE49-F238E27FC236}">
                <a16:creationId xmlns:a16="http://schemas.microsoft.com/office/drawing/2014/main" id="{07DA0C3C-DB8F-0241-9F1B-CDEC6D9433B7}"/>
              </a:ext>
            </a:extLst>
          </p:cNvPr>
          <p:cNvSpPr txBox="1"/>
          <p:nvPr/>
        </p:nvSpPr>
        <p:spPr>
          <a:xfrm>
            <a:off x="8540288" y="5793988"/>
            <a:ext cx="2944856" cy="369332"/>
          </a:xfrm>
          <a:prstGeom prst="rect">
            <a:avLst/>
          </a:prstGeom>
          <a:noFill/>
        </p:spPr>
        <p:txBody>
          <a:bodyPr wrap="square">
            <a:spAutoFit/>
          </a:bodyPr>
          <a:lstStyle/>
          <a:p>
            <a:pPr algn="ctr"/>
            <a:r>
              <a:rPr lang="es-MX" dirty="0"/>
              <a:t>Alertas</a:t>
            </a:r>
          </a:p>
        </p:txBody>
      </p:sp>
      <p:sp>
        <p:nvSpPr>
          <p:cNvPr id="5" name="CuadroTexto 4">
            <a:extLst>
              <a:ext uri="{FF2B5EF4-FFF2-40B4-BE49-F238E27FC236}">
                <a16:creationId xmlns:a16="http://schemas.microsoft.com/office/drawing/2014/main" id="{9C3CBC6C-4032-B97C-997F-DF20DD3DE2F0}"/>
              </a:ext>
            </a:extLst>
          </p:cNvPr>
          <p:cNvSpPr txBox="1"/>
          <p:nvPr/>
        </p:nvSpPr>
        <p:spPr>
          <a:xfrm>
            <a:off x="921853" y="1489984"/>
            <a:ext cx="10403840" cy="1746247"/>
          </a:xfrm>
          <a:prstGeom prst="rect">
            <a:avLst/>
          </a:prstGeom>
          <a:noFill/>
        </p:spPr>
        <p:txBody>
          <a:bodyPr wrap="square">
            <a:spAutoFit/>
          </a:bodyPr>
          <a:lstStyle/>
          <a:p>
            <a:pPr algn="ctr">
              <a:lnSpc>
                <a:spcPct val="150000"/>
              </a:lnSpc>
            </a:pPr>
            <a:r>
              <a:rPr lang="es-ES" dirty="0"/>
              <a:t>Un servicio/producto que detecte violencia en tiempo real mediante IA, analizando cámaras de seguridad para identificar agresiones. Al reconocer patrones peligrosos, envía alertas automáticas al personal de seguridad, permitiendo una respuesta rápida y minimizando riesgos en espacios públicos y privados.</a:t>
            </a:r>
            <a:br>
              <a:rPr lang="es-ES" sz="2000" dirty="0"/>
            </a:br>
            <a:endParaRPr lang="es-MX" sz="2000" dirty="0"/>
          </a:p>
        </p:txBody>
      </p:sp>
      <p:sp>
        <p:nvSpPr>
          <p:cNvPr id="6" name="Título 1">
            <a:extLst>
              <a:ext uri="{FF2B5EF4-FFF2-40B4-BE49-F238E27FC236}">
                <a16:creationId xmlns:a16="http://schemas.microsoft.com/office/drawing/2014/main" id="{93C5F4C2-154D-D465-CB15-FDF7DD56529E}"/>
              </a:ext>
            </a:extLst>
          </p:cNvPr>
          <p:cNvSpPr>
            <a:spLocks noGrp="1"/>
          </p:cNvSpPr>
          <p:nvPr>
            <p:ph type="title"/>
          </p:nvPr>
        </p:nvSpPr>
        <p:spPr>
          <a:xfrm>
            <a:off x="3828776" y="702559"/>
            <a:ext cx="4534448" cy="568894"/>
          </a:xfrm>
        </p:spPr>
        <p:txBody>
          <a:bodyPr>
            <a:normAutofit fontScale="90000"/>
          </a:bodyPr>
          <a:lstStyle/>
          <a:p>
            <a:r>
              <a:rPr lang="es-ES" cap="none" dirty="0"/>
              <a:t>SOLUCIÓN</a:t>
            </a:r>
            <a:endParaRPr lang="es-BO" cap="none" dirty="0"/>
          </a:p>
        </p:txBody>
      </p:sp>
      <p:pic>
        <p:nvPicPr>
          <p:cNvPr id="7" name="Picture 2" descr="human versus ia concept">
            <a:extLst>
              <a:ext uri="{FF2B5EF4-FFF2-40B4-BE49-F238E27FC236}">
                <a16:creationId xmlns:a16="http://schemas.microsoft.com/office/drawing/2014/main" id="{AD54135C-82E0-326D-03F1-353EDCBBD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159" y="3138819"/>
            <a:ext cx="3260090" cy="217192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9218" name="Picture 2" descr="Ai powered device concept">
            <a:extLst>
              <a:ext uri="{FF2B5EF4-FFF2-40B4-BE49-F238E27FC236}">
                <a16:creationId xmlns:a16="http://schemas.microsoft.com/office/drawing/2014/main" id="{E76C25B9-E893-75F6-9E47-1137CC2BE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3728" y="3138819"/>
            <a:ext cx="3260090" cy="222919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9220" name="Picture 4" descr="Firewall Antivirus Alert Protection Security Caution Concept">
            <a:extLst>
              <a:ext uri="{FF2B5EF4-FFF2-40B4-BE49-F238E27FC236}">
                <a16:creationId xmlns:a16="http://schemas.microsoft.com/office/drawing/2014/main" id="{FA60402D-CA96-12F7-9937-26D4E69E7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3224" y="3165721"/>
            <a:ext cx="3298984" cy="220229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459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1A68786-4DF0-5E52-DC96-7C5A457FA54D}"/>
            </a:ext>
          </a:extLst>
        </p:cNvPr>
        <p:cNvGrpSpPr/>
        <p:nvPr/>
      </p:nvGrpSpPr>
      <p:grpSpPr>
        <a:xfrm>
          <a:off x="0" y="0"/>
          <a:ext cx="0" cy="0"/>
          <a:chOff x="0" y="0"/>
          <a:chExt cx="0" cy="0"/>
        </a:xfrm>
      </p:grpSpPr>
      <p:pic>
        <p:nvPicPr>
          <p:cNvPr id="3076" name="Picture 4" descr="Gestión de Calidad: Qué es y Beneficios empresariales">
            <a:extLst>
              <a:ext uri="{FF2B5EF4-FFF2-40B4-BE49-F238E27FC236}">
                <a16:creationId xmlns:a16="http://schemas.microsoft.com/office/drawing/2014/main" id="{F0B0B92F-55CB-B3D4-192E-68617E05C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5760"/>
            <a:ext cx="12192000" cy="731520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56E9F98-E6DF-3CD6-CAEA-AE5EFD280100}"/>
              </a:ext>
            </a:extLst>
          </p:cNvPr>
          <p:cNvSpPr txBox="1"/>
          <p:nvPr/>
        </p:nvSpPr>
        <p:spPr>
          <a:xfrm>
            <a:off x="870857" y="5253837"/>
            <a:ext cx="4685211" cy="584775"/>
          </a:xfrm>
          <a:prstGeom prst="rect">
            <a:avLst/>
          </a:prstGeom>
          <a:noFill/>
        </p:spPr>
        <p:txBody>
          <a:bodyPr wrap="square">
            <a:spAutoFit/>
          </a:bodyPr>
          <a:lstStyle/>
          <a:p>
            <a:pPr marL="457200" indent="-457200">
              <a:buFont typeface="Wingdings" panose="05000000000000000000" pitchFamily="2" charset="2"/>
              <a:buChar char="§"/>
            </a:pPr>
            <a:r>
              <a:rPr lang="es-MX" sz="3200" b="1" dirty="0">
                <a:solidFill>
                  <a:schemeClr val="bg2"/>
                </a:solidFill>
                <a:effectLst>
                  <a:outerShdw blurRad="38100" dist="38100" dir="2700000" algn="tl">
                    <a:srgbClr val="000000">
                      <a:alpha val="43137"/>
                    </a:srgbClr>
                  </a:outerShdw>
                </a:effectLst>
              </a:rPr>
              <a:t>Producto / Servicio</a:t>
            </a:r>
            <a:endParaRPr lang="es-MX" sz="32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3674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252DC760-72E1-8677-8903-531C834E6BDD}"/>
              </a:ext>
            </a:extLst>
          </p:cNvPr>
          <p:cNvSpPr>
            <a:spLocks noGrp="1"/>
          </p:cNvSpPr>
          <p:nvPr>
            <p:ph type="title"/>
          </p:nvPr>
        </p:nvSpPr>
        <p:spPr>
          <a:xfrm>
            <a:off x="3828776" y="702559"/>
            <a:ext cx="4534448" cy="568894"/>
          </a:xfrm>
        </p:spPr>
        <p:txBody>
          <a:bodyPr>
            <a:normAutofit fontScale="90000"/>
          </a:bodyPr>
          <a:lstStyle/>
          <a:p>
            <a:r>
              <a:rPr lang="es-ES" cap="none" dirty="0"/>
              <a:t>SOFTWARE</a:t>
            </a:r>
            <a:endParaRPr lang="es-BO" cap="none" dirty="0"/>
          </a:p>
        </p:txBody>
      </p:sp>
      <p:sp>
        <p:nvSpPr>
          <p:cNvPr id="12" name="CuadroTexto 11">
            <a:extLst>
              <a:ext uri="{FF2B5EF4-FFF2-40B4-BE49-F238E27FC236}">
                <a16:creationId xmlns:a16="http://schemas.microsoft.com/office/drawing/2014/main" id="{92644CE8-048F-D866-4119-8126EE19B70E}"/>
              </a:ext>
            </a:extLst>
          </p:cNvPr>
          <p:cNvSpPr txBox="1"/>
          <p:nvPr/>
        </p:nvSpPr>
        <p:spPr>
          <a:xfrm>
            <a:off x="1131471" y="5121700"/>
            <a:ext cx="2697305" cy="369332"/>
          </a:xfrm>
          <a:prstGeom prst="rect">
            <a:avLst/>
          </a:prstGeom>
          <a:noFill/>
        </p:spPr>
        <p:txBody>
          <a:bodyPr wrap="square">
            <a:spAutoFit/>
          </a:bodyPr>
          <a:lstStyle/>
          <a:p>
            <a:pPr algn="ctr"/>
            <a:r>
              <a:rPr lang="es-MX" dirty="0">
                <a:latin typeface="-apple-system"/>
              </a:rPr>
              <a:t>Monitoreo Automático</a:t>
            </a:r>
            <a:endParaRPr lang="es-MX" dirty="0"/>
          </a:p>
        </p:txBody>
      </p:sp>
      <p:sp>
        <p:nvSpPr>
          <p:cNvPr id="15" name="CuadroTexto 14">
            <a:extLst>
              <a:ext uri="{FF2B5EF4-FFF2-40B4-BE49-F238E27FC236}">
                <a16:creationId xmlns:a16="http://schemas.microsoft.com/office/drawing/2014/main" id="{CE9EF2CC-8CDD-89EB-EE4D-197E3E8453C0}"/>
              </a:ext>
            </a:extLst>
          </p:cNvPr>
          <p:cNvSpPr txBox="1"/>
          <p:nvPr/>
        </p:nvSpPr>
        <p:spPr>
          <a:xfrm>
            <a:off x="8793930" y="5151340"/>
            <a:ext cx="2697305" cy="369332"/>
          </a:xfrm>
          <a:prstGeom prst="rect">
            <a:avLst/>
          </a:prstGeom>
          <a:noFill/>
        </p:spPr>
        <p:txBody>
          <a:bodyPr wrap="square">
            <a:spAutoFit/>
          </a:bodyPr>
          <a:lstStyle/>
          <a:p>
            <a:pPr algn="ctr"/>
            <a:r>
              <a:rPr lang="es-MX" dirty="0"/>
              <a:t>Alertas inmediatas</a:t>
            </a:r>
          </a:p>
        </p:txBody>
      </p:sp>
      <p:sp>
        <p:nvSpPr>
          <p:cNvPr id="2" name="CuadroTexto 1">
            <a:extLst>
              <a:ext uri="{FF2B5EF4-FFF2-40B4-BE49-F238E27FC236}">
                <a16:creationId xmlns:a16="http://schemas.microsoft.com/office/drawing/2014/main" id="{3F71DBA4-742D-462A-E2F3-C04F6401BD31}"/>
              </a:ext>
            </a:extLst>
          </p:cNvPr>
          <p:cNvSpPr txBox="1"/>
          <p:nvPr/>
        </p:nvSpPr>
        <p:spPr>
          <a:xfrm>
            <a:off x="4538570" y="5151340"/>
            <a:ext cx="3290296" cy="369332"/>
          </a:xfrm>
          <a:prstGeom prst="rect">
            <a:avLst/>
          </a:prstGeom>
          <a:noFill/>
        </p:spPr>
        <p:txBody>
          <a:bodyPr wrap="square">
            <a:spAutoFit/>
          </a:bodyPr>
          <a:lstStyle/>
          <a:p>
            <a:pPr algn="ctr"/>
            <a:r>
              <a:rPr lang="es-MX" dirty="0"/>
              <a:t>Compatible con cámaras actuales</a:t>
            </a:r>
          </a:p>
        </p:txBody>
      </p:sp>
      <p:pic>
        <p:nvPicPr>
          <p:cNvPr id="10242" name="Picture 2" descr="Risk Gamble Opportunity SWOT Weakness Unsure Concept">
            <a:extLst>
              <a:ext uri="{FF2B5EF4-FFF2-40B4-BE49-F238E27FC236}">
                <a16:creationId xmlns:a16="http://schemas.microsoft.com/office/drawing/2014/main" id="{0C1ECA15-D982-1A0D-7ECC-D235FB06B6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237"/>
          <a:stretch>
            <a:fillRect/>
          </a:stretch>
        </p:blipFill>
        <p:spPr bwMode="auto">
          <a:xfrm>
            <a:off x="895798" y="2506802"/>
            <a:ext cx="3246394" cy="229971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Portrait of person doing arts and crafts">
            <a:extLst>
              <a:ext uri="{FF2B5EF4-FFF2-40B4-BE49-F238E27FC236}">
                <a16:creationId xmlns:a16="http://schemas.microsoft.com/office/drawing/2014/main" id="{1CF85BE3-4871-DCA3-2F98-C4590C5725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592" b="33333"/>
          <a:stretch>
            <a:fillRect/>
          </a:stretch>
        </p:blipFill>
        <p:spPr bwMode="auto">
          <a:xfrm>
            <a:off x="4863726" y="2506801"/>
            <a:ext cx="2639984" cy="229971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Front view hands pressing buzzer">
            <a:extLst>
              <a:ext uri="{FF2B5EF4-FFF2-40B4-BE49-F238E27FC236}">
                <a16:creationId xmlns:a16="http://schemas.microsoft.com/office/drawing/2014/main" id="{3723D3DB-7FD9-200A-2662-E935704FBE5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901" t="8350" r="7621" b="1974"/>
          <a:stretch>
            <a:fillRect/>
          </a:stretch>
        </p:blipFill>
        <p:spPr bwMode="auto">
          <a:xfrm>
            <a:off x="8200939" y="2506803"/>
            <a:ext cx="3290296" cy="2299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93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DF792F8-6F3A-AD61-FD3D-FC75BFDC8479}"/>
            </a:ext>
          </a:extLst>
        </p:cNvPr>
        <p:cNvGrpSpPr/>
        <p:nvPr/>
      </p:nvGrpSpPr>
      <p:grpSpPr>
        <a:xfrm>
          <a:off x="0" y="0"/>
          <a:ext cx="0" cy="0"/>
          <a:chOff x="0" y="0"/>
          <a:chExt cx="0" cy="0"/>
        </a:xfrm>
      </p:grpSpPr>
      <p:pic>
        <p:nvPicPr>
          <p:cNvPr id="5124" name="Picture 4" descr="Close up on young man writing in a virtual classroom">
            <a:extLst>
              <a:ext uri="{FF2B5EF4-FFF2-40B4-BE49-F238E27FC236}">
                <a16:creationId xmlns:a16="http://schemas.microsoft.com/office/drawing/2014/main" id="{446AE9BF-1F6B-A61B-A6CE-E7FC004090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112" b="8149"/>
          <a:stretch>
            <a:fillRect/>
          </a:stretch>
        </p:blipFill>
        <p:spPr bwMode="auto">
          <a:xfrm>
            <a:off x="0" y="-39035"/>
            <a:ext cx="12192000" cy="689703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2EE16D6-8BCF-D6CA-82F8-1533B813209D}"/>
              </a:ext>
            </a:extLst>
          </p:cNvPr>
          <p:cNvSpPr txBox="1"/>
          <p:nvPr/>
        </p:nvSpPr>
        <p:spPr>
          <a:xfrm>
            <a:off x="870857" y="5253837"/>
            <a:ext cx="5225143" cy="584775"/>
          </a:xfrm>
          <a:prstGeom prst="rect">
            <a:avLst/>
          </a:prstGeom>
          <a:noFill/>
        </p:spPr>
        <p:txBody>
          <a:bodyPr wrap="square">
            <a:spAutoFit/>
          </a:bodyPr>
          <a:lstStyle/>
          <a:p>
            <a:pPr marL="457200" indent="-457200">
              <a:buFont typeface="Wingdings" panose="05000000000000000000" pitchFamily="2" charset="2"/>
              <a:buChar char="§"/>
            </a:pPr>
            <a:r>
              <a:rPr lang="es-MX" sz="3200" b="1" dirty="0">
                <a:solidFill>
                  <a:schemeClr val="bg2"/>
                </a:solidFill>
                <a:effectLst>
                  <a:outerShdw blurRad="38100" dist="38100" dir="2700000" algn="tl">
                    <a:srgbClr val="000000">
                      <a:alpha val="43137"/>
                    </a:srgbClr>
                  </a:outerShdw>
                </a:effectLst>
              </a:rPr>
              <a:t>Metodología aplicada</a:t>
            </a:r>
            <a:endParaRPr lang="es-MX" sz="32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4474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1E0B2-0884-FF10-E617-915260B453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5363AE-9861-6953-D4EB-9AB2217BCFED}"/>
              </a:ext>
            </a:extLst>
          </p:cNvPr>
          <p:cNvSpPr>
            <a:spLocks noGrp="1"/>
          </p:cNvSpPr>
          <p:nvPr>
            <p:ph type="title"/>
          </p:nvPr>
        </p:nvSpPr>
        <p:spPr>
          <a:xfrm>
            <a:off x="3695290" y="676434"/>
            <a:ext cx="4801418" cy="568894"/>
          </a:xfrm>
        </p:spPr>
        <p:txBody>
          <a:bodyPr>
            <a:normAutofit fontScale="90000"/>
          </a:bodyPr>
          <a:lstStyle/>
          <a:p>
            <a:r>
              <a:rPr lang="es-ES" cap="none" dirty="0"/>
              <a:t>METODOLOGIA APLICADA</a:t>
            </a:r>
            <a:endParaRPr lang="es-BO" cap="none" dirty="0"/>
          </a:p>
        </p:txBody>
      </p:sp>
      <p:sp>
        <p:nvSpPr>
          <p:cNvPr id="8" name="CuadroTexto 7">
            <a:extLst>
              <a:ext uri="{FF2B5EF4-FFF2-40B4-BE49-F238E27FC236}">
                <a16:creationId xmlns:a16="http://schemas.microsoft.com/office/drawing/2014/main" id="{1B1E18A3-E32E-0CC9-005F-33DFF20BEBA7}"/>
              </a:ext>
            </a:extLst>
          </p:cNvPr>
          <p:cNvSpPr txBox="1"/>
          <p:nvPr/>
        </p:nvSpPr>
        <p:spPr>
          <a:xfrm>
            <a:off x="1131470" y="5166631"/>
            <a:ext cx="2697305" cy="369332"/>
          </a:xfrm>
          <a:prstGeom prst="rect">
            <a:avLst/>
          </a:prstGeom>
          <a:noFill/>
        </p:spPr>
        <p:txBody>
          <a:bodyPr wrap="square">
            <a:spAutoFit/>
          </a:bodyPr>
          <a:lstStyle/>
          <a:p>
            <a:pPr algn="ctr"/>
            <a:r>
              <a:rPr lang="es-MX" dirty="0"/>
              <a:t>Selección de IA</a:t>
            </a:r>
          </a:p>
        </p:txBody>
      </p:sp>
      <p:sp>
        <p:nvSpPr>
          <p:cNvPr id="9" name="CuadroTexto 8">
            <a:extLst>
              <a:ext uri="{FF2B5EF4-FFF2-40B4-BE49-F238E27FC236}">
                <a16:creationId xmlns:a16="http://schemas.microsoft.com/office/drawing/2014/main" id="{E8183EAF-2B6E-3BE1-60EE-5F49DD3341F1}"/>
              </a:ext>
            </a:extLst>
          </p:cNvPr>
          <p:cNvSpPr txBox="1"/>
          <p:nvPr/>
        </p:nvSpPr>
        <p:spPr>
          <a:xfrm>
            <a:off x="4747347" y="5166631"/>
            <a:ext cx="2697305" cy="369332"/>
          </a:xfrm>
          <a:prstGeom prst="rect">
            <a:avLst/>
          </a:prstGeom>
          <a:noFill/>
        </p:spPr>
        <p:txBody>
          <a:bodyPr wrap="square">
            <a:spAutoFit/>
          </a:bodyPr>
          <a:lstStyle/>
          <a:p>
            <a:pPr algn="ctr"/>
            <a:r>
              <a:rPr lang="es-MX" dirty="0"/>
              <a:t>Entrenamiento del modelo</a:t>
            </a:r>
          </a:p>
        </p:txBody>
      </p:sp>
      <p:sp>
        <p:nvSpPr>
          <p:cNvPr id="10" name="CuadroTexto 9">
            <a:extLst>
              <a:ext uri="{FF2B5EF4-FFF2-40B4-BE49-F238E27FC236}">
                <a16:creationId xmlns:a16="http://schemas.microsoft.com/office/drawing/2014/main" id="{171C4DF4-6C06-6F48-0D53-5FD03AB242F0}"/>
              </a:ext>
            </a:extLst>
          </p:cNvPr>
          <p:cNvSpPr txBox="1"/>
          <p:nvPr/>
        </p:nvSpPr>
        <p:spPr>
          <a:xfrm>
            <a:off x="8486372" y="5166631"/>
            <a:ext cx="2697306" cy="369332"/>
          </a:xfrm>
          <a:prstGeom prst="rect">
            <a:avLst/>
          </a:prstGeom>
          <a:noFill/>
        </p:spPr>
        <p:txBody>
          <a:bodyPr wrap="square">
            <a:spAutoFit/>
          </a:bodyPr>
          <a:lstStyle/>
          <a:p>
            <a:pPr algn="ctr"/>
            <a:r>
              <a:rPr lang="es-MX" dirty="0"/>
              <a:t>Validación</a:t>
            </a:r>
          </a:p>
        </p:txBody>
      </p:sp>
      <p:pic>
        <p:nvPicPr>
          <p:cNvPr id="11266" name="Picture 2" descr="Startup employee looking over business charts using AI software">
            <a:extLst>
              <a:ext uri="{FF2B5EF4-FFF2-40B4-BE49-F238E27FC236}">
                <a16:creationId xmlns:a16="http://schemas.microsoft.com/office/drawing/2014/main" id="{BF00ACCD-3E9B-9504-2A52-EB8C745888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03" r="11893"/>
          <a:stretch>
            <a:fillRect/>
          </a:stretch>
        </p:blipFill>
        <p:spPr bwMode="auto">
          <a:xfrm>
            <a:off x="877509" y="2536740"/>
            <a:ext cx="3205228" cy="218399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1268" name="Picture 4" descr="Meeting of developers">
            <a:extLst>
              <a:ext uri="{FF2B5EF4-FFF2-40B4-BE49-F238E27FC236}">
                <a16:creationId xmlns:a16="http://schemas.microsoft.com/office/drawing/2014/main" id="{F23B97D1-1406-3C80-B0CA-72DA86ABB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834" y="2536741"/>
            <a:ext cx="3271568" cy="218399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1270" name="Picture 6" descr="Futuristic business scene with ultra modern ambiance">
            <a:extLst>
              <a:ext uri="{FF2B5EF4-FFF2-40B4-BE49-F238E27FC236}">
                <a16:creationId xmlns:a16="http://schemas.microsoft.com/office/drawing/2014/main" id="{9026879C-FC16-CE57-6F7D-982173242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524" y="2536741"/>
            <a:ext cx="3423002" cy="228046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406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73478DD-0C25-14E1-F3FD-D081D5ABB580}"/>
            </a:ext>
          </a:extLst>
        </p:cNvPr>
        <p:cNvGrpSpPr/>
        <p:nvPr/>
      </p:nvGrpSpPr>
      <p:grpSpPr>
        <a:xfrm>
          <a:off x="0" y="0"/>
          <a:ext cx="0" cy="0"/>
          <a:chOff x="0" y="0"/>
          <a:chExt cx="0" cy="0"/>
        </a:xfrm>
      </p:grpSpPr>
      <p:pic>
        <p:nvPicPr>
          <p:cNvPr id="4110" name="Picture 14" descr="businessman application human digital business">
            <a:extLst>
              <a:ext uri="{FF2B5EF4-FFF2-40B4-BE49-F238E27FC236}">
                <a16:creationId xmlns:a16="http://schemas.microsoft.com/office/drawing/2014/main" id="{20FD6954-8268-6B9A-1B7F-F24C40BBDB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240"/>
          <a:stretch>
            <a:fillRect/>
          </a:stretch>
        </p:blipFill>
        <p:spPr bwMode="auto">
          <a:xfrm>
            <a:off x="0" y="-1"/>
            <a:ext cx="12313920" cy="7132053"/>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375DC55B-73B9-51D4-9D46-C3146BC90C3F}"/>
              </a:ext>
            </a:extLst>
          </p:cNvPr>
          <p:cNvSpPr txBox="1"/>
          <p:nvPr/>
        </p:nvSpPr>
        <p:spPr>
          <a:xfrm>
            <a:off x="870857" y="5253837"/>
            <a:ext cx="5225143" cy="584775"/>
          </a:xfrm>
          <a:prstGeom prst="rect">
            <a:avLst/>
          </a:prstGeom>
          <a:noFill/>
        </p:spPr>
        <p:txBody>
          <a:bodyPr wrap="square">
            <a:spAutoFit/>
          </a:bodyPr>
          <a:lstStyle/>
          <a:p>
            <a:pPr marL="457200" indent="-457200">
              <a:buFont typeface="Wingdings" panose="05000000000000000000" pitchFamily="2" charset="2"/>
              <a:buChar char="§"/>
            </a:pPr>
            <a:r>
              <a:rPr lang="es-MX" sz="3200" b="1" dirty="0">
                <a:solidFill>
                  <a:schemeClr val="bg2"/>
                </a:solidFill>
                <a:effectLst>
                  <a:outerShdw blurRad="38100" dist="38100" dir="2700000" algn="tl">
                    <a:srgbClr val="000000">
                      <a:alpha val="43137"/>
                    </a:srgbClr>
                  </a:outerShdw>
                </a:effectLst>
              </a:rPr>
              <a:t>Segmento de clientes</a:t>
            </a:r>
            <a:endParaRPr lang="es-MX" sz="32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8270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EE76439-401A-D327-A31B-35EFD93D89A2}"/>
              </a:ext>
            </a:extLst>
          </p:cNvPr>
          <p:cNvSpPr>
            <a:spLocks noGrp="1"/>
          </p:cNvSpPr>
          <p:nvPr>
            <p:ph type="title"/>
          </p:nvPr>
        </p:nvSpPr>
        <p:spPr>
          <a:xfrm>
            <a:off x="3828776" y="702559"/>
            <a:ext cx="4534448" cy="568894"/>
          </a:xfrm>
        </p:spPr>
        <p:txBody>
          <a:bodyPr>
            <a:normAutofit fontScale="90000"/>
          </a:bodyPr>
          <a:lstStyle/>
          <a:p>
            <a:r>
              <a:rPr lang="es-ES" cap="none" dirty="0"/>
              <a:t>SEGMENTO DE CLIENTES</a:t>
            </a:r>
            <a:endParaRPr lang="es-BO" cap="none" dirty="0"/>
          </a:p>
        </p:txBody>
      </p:sp>
      <p:sp>
        <p:nvSpPr>
          <p:cNvPr id="6" name="CuadroTexto 5">
            <a:extLst>
              <a:ext uri="{FF2B5EF4-FFF2-40B4-BE49-F238E27FC236}">
                <a16:creationId xmlns:a16="http://schemas.microsoft.com/office/drawing/2014/main" id="{786460EF-09B8-F65C-CD8C-29DAF44D5A55}"/>
              </a:ext>
            </a:extLst>
          </p:cNvPr>
          <p:cNvSpPr txBox="1"/>
          <p:nvPr/>
        </p:nvSpPr>
        <p:spPr>
          <a:xfrm>
            <a:off x="552694" y="5033454"/>
            <a:ext cx="3869614" cy="369332"/>
          </a:xfrm>
          <a:prstGeom prst="rect">
            <a:avLst/>
          </a:prstGeom>
          <a:noFill/>
        </p:spPr>
        <p:txBody>
          <a:bodyPr wrap="square">
            <a:spAutoFit/>
          </a:bodyPr>
          <a:lstStyle/>
          <a:p>
            <a:pPr algn="ctr"/>
            <a:r>
              <a:rPr lang="es-MX" dirty="0"/>
              <a:t>Autoridades públicas</a:t>
            </a:r>
          </a:p>
        </p:txBody>
      </p:sp>
      <p:sp>
        <p:nvSpPr>
          <p:cNvPr id="11" name="CuadroTexto 10">
            <a:extLst>
              <a:ext uri="{FF2B5EF4-FFF2-40B4-BE49-F238E27FC236}">
                <a16:creationId xmlns:a16="http://schemas.microsoft.com/office/drawing/2014/main" id="{8AE2E4E7-8320-884E-B8E2-1CFD1937C70D}"/>
              </a:ext>
            </a:extLst>
          </p:cNvPr>
          <p:cNvSpPr txBox="1"/>
          <p:nvPr/>
        </p:nvSpPr>
        <p:spPr>
          <a:xfrm>
            <a:off x="4584479" y="5033454"/>
            <a:ext cx="3371295" cy="369332"/>
          </a:xfrm>
          <a:prstGeom prst="rect">
            <a:avLst/>
          </a:prstGeom>
          <a:noFill/>
        </p:spPr>
        <p:txBody>
          <a:bodyPr wrap="square">
            <a:spAutoFit/>
          </a:bodyPr>
          <a:lstStyle/>
          <a:p>
            <a:pPr algn="ctr"/>
            <a:r>
              <a:rPr lang="es-MX" dirty="0"/>
              <a:t>Colegios / Universidades</a:t>
            </a:r>
          </a:p>
        </p:txBody>
      </p:sp>
      <p:pic>
        <p:nvPicPr>
          <p:cNvPr id="12290" name="Picture 2" descr="Many students waiting outside a classroom and studying for their upcoming test">
            <a:extLst>
              <a:ext uri="{FF2B5EF4-FFF2-40B4-BE49-F238E27FC236}">
                <a16:creationId xmlns:a16="http://schemas.microsoft.com/office/drawing/2014/main" id="{D9DD3657-83D6-CA10-4DEC-D1D752821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6093" y="2451995"/>
            <a:ext cx="3228068" cy="215059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2294" name="Picture 6" descr="Elevated view of businessman shaking hands with his partner at workplace">
            <a:extLst>
              <a:ext uri="{FF2B5EF4-FFF2-40B4-BE49-F238E27FC236}">
                <a16:creationId xmlns:a16="http://schemas.microsoft.com/office/drawing/2014/main" id="{1F6AB502-3BAE-A7E8-43EE-FE5E7C112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3225" y="2451995"/>
            <a:ext cx="3228068" cy="215059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2298" name="Picture 10" descr="Recursos para los gobiernos locales">
            <a:extLst>
              <a:ext uri="{FF2B5EF4-FFF2-40B4-BE49-F238E27FC236}">
                <a16:creationId xmlns:a16="http://schemas.microsoft.com/office/drawing/2014/main" id="{6DC14DA3-26B8-6C7F-695E-838B553143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806"/>
          <a:stretch>
            <a:fillRect/>
          </a:stretch>
        </p:blipFill>
        <p:spPr bwMode="auto">
          <a:xfrm>
            <a:off x="941483" y="2377469"/>
            <a:ext cx="3092037" cy="218443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48F050F5-714F-054C-5EE8-E0076CC64C49}"/>
              </a:ext>
            </a:extLst>
          </p:cNvPr>
          <p:cNvSpPr txBox="1"/>
          <p:nvPr/>
        </p:nvSpPr>
        <p:spPr>
          <a:xfrm>
            <a:off x="8211382" y="5033454"/>
            <a:ext cx="3371295" cy="369332"/>
          </a:xfrm>
          <a:prstGeom prst="rect">
            <a:avLst/>
          </a:prstGeom>
          <a:noFill/>
        </p:spPr>
        <p:txBody>
          <a:bodyPr wrap="square">
            <a:spAutoFit/>
          </a:bodyPr>
          <a:lstStyle/>
          <a:p>
            <a:pPr algn="ctr"/>
            <a:r>
              <a:rPr lang="es-MX" dirty="0"/>
              <a:t>Empresas privadas / públicas</a:t>
            </a:r>
          </a:p>
        </p:txBody>
      </p:sp>
    </p:spTree>
    <p:extLst>
      <p:ext uri="{BB962C8B-B14F-4D97-AF65-F5344CB8AC3E}">
        <p14:creationId xmlns:p14="http://schemas.microsoft.com/office/powerpoint/2010/main" val="2892818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87BFC18-A90C-3E02-5EFC-0E4179BF02EC}"/>
            </a:ext>
          </a:extLst>
        </p:cNvPr>
        <p:cNvGrpSpPr/>
        <p:nvPr/>
      </p:nvGrpSpPr>
      <p:grpSpPr>
        <a:xfrm>
          <a:off x="0" y="0"/>
          <a:ext cx="0" cy="0"/>
          <a:chOff x="0" y="0"/>
          <a:chExt cx="0" cy="0"/>
        </a:xfrm>
      </p:grpSpPr>
      <p:pic>
        <p:nvPicPr>
          <p:cNvPr id="1028" name="Picture 4" descr="Person talking on video call">
            <a:extLst>
              <a:ext uri="{FF2B5EF4-FFF2-40B4-BE49-F238E27FC236}">
                <a16:creationId xmlns:a16="http://schemas.microsoft.com/office/drawing/2014/main" id="{D1B803B5-1097-4A55-2326-B0B36375C6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207" b="12675"/>
          <a:stretch>
            <a:fillRect/>
          </a:stretch>
        </p:blipFill>
        <p:spPr bwMode="auto">
          <a:xfrm>
            <a:off x="-167665" y="0"/>
            <a:ext cx="12689889"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9382BF8-7F1C-5943-3436-9DDA794AF10B}"/>
              </a:ext>
            </a:extLst>
          </p:cNvPr>
          <p:cNvSpPr txBox="1"/>
          <p:nvPr/>
        </p:nvSpPr>
        <p:spPr>
          <a:xfrm>
            <a:off x="870857" y="5253837"/>
            <a:ext cx="4685211" cy="584775"/>
          </a:xfrm>
          <a:prstGeom prst="rect">
            <a:avLst/>
          </a:prstGeom>
          <a:noFill/>
        </p:spPr>
        <p:txBody>
          <a:bodyPr wrap="square">
            <a:spAutoFit/>
          </a:bodyPr>
          <a:lstStyle/>
          <a:p>
            <a:pPr marL="457200" indent="-457200">
              <a:buFont typeface="Wingdings" panose="05000000000000000000" pitchFamily="2" charset="2"/>
              <a:buChar char="§"/>
            </a:pPr>
            <a:r>
              <a:rPr lang="es-MX" sz="3200" b="1" dirty="0">
                <a:solidFill>
                  <a:schemeClr val="bg2"/>
                </a:solidFill>
                <a:effectLst>
                  <a:outerShdw blurRad="38100" dist="38100" dir="2700000" algn="tl">
                    <a:srgbClr val="000000">
                      <a:alpha val="43137"/>
                    </a:srgbClr>
                  </a:outerShdw>
                </a:effectLst>
              </a:rPr>
              <a:t>Resultados obtenidos</a:t>
            </a:r>
            <a:endParaRPr lang="es-MX" sz="32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011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687C8-9A10-6DD9-9A70-B600D580D6FE}"/>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554B7349-8620-1AE2-74E1-FF125288DAE1}"/>
              </a:ext>
            </a:extLst>
          </p:cNvPr>
          <p:cNvSpPr>
            <a:spLocks noGrp="1"/>
          </p:cNvSpPr>
          <p:nvPr>
            <p:ph type="title"/>
          </p:nvPr>
        </p:nvSpPr>
        <p:spPr>
          <a:xfrm>
            <a:off x="3697468" y="456516"/>
            <a:ext cx="4797064" cy="568894"/>
          </a:xfrm>
        </p:spPr>
        <p:txBody>
          <a:bodyPr>
            <a:normAutofit fontScale="90000"/>
          </a:bodyPr>
          <a:lstStyle/>
          <a:p>
            <a:r>
              <a:rPr lang="es-ES" cap="none" dirty="0"/>
              <a:t>RESULTADOS OBTENIDOS</a:t>
            </a:r>
            <a:endParaRPr lang="es-BO" cap="none" dirty="0"/>
          </a:p>
        </p:txBody>
      </p:sp>
      <p:sp>
        <p:nvSpPr>
          <p:cNvPr id="2" name="CuadroTexto 1">
            <a:extLst>
              <a:ext uri="{FF2B5EF4-FFF2-40B4-BE49-F238E27FC236}">
                <a16:creationId xmlns:a16="http://schemas.microsoft.com/office/drawing/2014/main" id="{CA75E039-628A-01EC-4E3E-D0D64D40C5A1}"/>
              </a:ext>
            </a:extLst>
          </p:cNvPr>
          <p:cNvSpPr txBox="1"/>
          <p:nvPr/>
        </p:nvSpPr>
        <p:spPr>
          <a:xfrm>
            <a:off x="1148104" y="6247483"/>
            <a:ext cx="3921125" cy="369332"/>
          </a:xfrm>
          <a:prstGeom prst="rect">
            <a:avLst/>
          </a:prstGeom>
          <a:noFill/>
        </p:spPr>
        <p:txBody>
          <a:bodyPr wrap="square">
            <a:spAutoFit/>
          </a:bodyPr>
          <a:lstStyle/>
          <a:p>
            <a:pPr algn="ctr"/>
            <a:r>
              <a:rPr lang="es-MX" dirty="0"/>
              <a:t>Perdida de entrenamiento y validación</a:t>
            </a:r>
          </a:p>
        </p:txBody>
      </p:sp>
      <p:sp>
        <p:nvSpPr>
          <p:cNvPr id="14" name="CuadroTexto 13">
            <a:extLst>
              <a:ext uri="{FF2B5EF4-FFF2-40B4-BE49-F238E27FC236}">
                <a16:creationId xmlns:a16="http://schemas.microsoft.com/office/drawing/2014/main" id="{DBB56E09-F38F-D067-E2E7-A96559162E89}"/>
              </a:ext>
            </a:extLst>
          </p:cNvPr>
          <p:cNvSpPr txBox="1"/>
          <p:nvPr/>
        </p:nvSpPr>
        <p:spPr>
          <a:xfrm>
            <a:off x="6921656" y="6247483"/>
            <a:ext cx="3921125" cy="369332"/>
          </a:xfrm>
          <a:prstGeom prst="rect">
            <a:avLst/>
          </a:prstGeom>
          <a:noFill/>
        </p:spPr>
        <p:txBody>
          <a:bodyPr wrap="square">
            <a:spAutoFit/>
          </a:bodyPr>
          <a:lstStyle/>
          <a:p>
            <a:pPr algn="ctr"/>
            <a:r>
              <a:rPr lang="es-MX" dirty="0"/>
              <a:t>Precisión de entrenamiento y validación</a:t>
            </a:r>
          </a:p>
        </p:txBody>
      </p:sp>
      <p:pic>
        <p:nvPicPr>
          <p:cNvPr id="16" name="Imagen 15">
            <a:extLst>
              <a:ext uri="{FF2B5EF4-FFF2-40B4-BE49-F238E27FC236}">
                <a16:creationId xmlns:a16="http://schemas.microsoft.com/office/drawing/2014/main" id="{7D5ED25C-6057-82F9-582E-DA718CB51397}"/>
              </a:ext>
            </a:extLst>
          </p:cNvPr>
          <p:cNvPicPr>
            <a:picLocks noChangeAspect="1"/>
          </p:cNvPicPr>
          <p:nvPr/>
        </p:nvPicPr>
        <p:blipFill>
          <a:blip r:embed="rId2"/>
          <a:stretch>
            <a:fillRect/>
          </a:stretch>
        </p:blipFill>
        <p:spPr>
          <a:xfrm>
            <a:off x="548111" y="1544440"/>
            <a:ext cx="5131329" cy="4345774"/>
          </a:xfrm>
          <a:prstGeom prst="rect">
            <a:avLst/>
          </a:prstGeom>
        </p:spPr>
      </p:pic>
      <p:pic>
        <p:nvPicPr>
          <p:cNvPr id="18" name="Imagen 17">
            <a:extLst>
              <a:ext uri="{FF2B5EF4-FFF2-40B4-BE49-F238E27FC236}">
                <a16:creationId xmlns:a16="http://schemas.microsoft.com/office/drawing/2014/main" id="{18CCDEBC-3D31-5F69-C21B-E0AD3B179B64}"/>
              </a:ext>
            </a:extLst>
          </p:cNvPr>
          <p:cNvPicPr>
            <a:picLocks noChangeAspect="1"/>
          </p:cNvPicPr>
          <p:nvPr/>
        </p:nvPicPr>
        <p:blipFill>
          <a:blip r:embed="rId3"/>
          <a:srcRect l="2889"/>
          <a:stretch>
            <a:fillRect/>
          </a:stretch>
        </p:blipFill>
        <p:spPr>
          <a:xfrm>
            <a:off x="6014871" y="1544440"/>
            <a:ext cx="5734694" cy="4339729"/>
          </a:xfrm>
          <a:prstGeom prst="rect">
            <a:avLst/>
          </a:prstGeom>
        </p:spPr>
      </p:pic>
    </p:spTree>
    <p:extLst>
      <p:ext uri="{BB962C8B-B14F-4D97-AF65-F5344CB8AC3E}">
        <p14:creationId xmlns:p14="http://schemas.microsoft.com/office/powerpoint/2010/main" val="260098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40657-E865-AC6A-D0FF-48F11BC0C961}"/>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0386E72A-672D-E50C-312C-9533F1B99310}"/>
              </a:ext>
            </a:extLst>
          </p:cNvPr>
          <p:cNvSpPr>
            <a:spLocks noGrp="1"/>
          </p:cNvSpPr>
          <p:nvPr>
            <p:ph type="title"/>
          </p:nvPr>
        </p:nvSpPr>
        <p:spPr>
          <a:xfrm>
            <a:off x="3697468" y="456516"/>
            <a:ext cx="4797064" cy="568894"/>
          </a:xfrm>
        </p:spPr>
        <p:txBody>
          <a:bodyPr>
            <a:normAutofit fontScale="90000"/>
          </a:bodyPr>
          <a:lstStyle/>
          <a:p>
            <a:r>
              <a:rPr lang="es-ES" cap="none" dirty="0"/>
              <a:t>RESULTADOS OBTENIDOS</a:t>
            </a:r>
            <a:endParaRPr lang="es-BO" cap="none" dirty="0"/>
          </a:p>
        </p:txBody>
      </p:sp>
      <p:sp>
        <p:nvSpPr>
          <p:cNvPr id="2" name="CuadroTexto 1">
            <a:extLst>
              <a:ext uri="{FF2B5EF4-FFF2-40B4-BE49-F238E27FC236}">
                <a16:creationId xmlns:a16="http://schemas.microsoft.com/office/drawing/2014/main" id="{FE7EFB92-12DA-CEDD-CD7B-EC07D4CFFD6C}"/>
              </a:ext>
            </a:extLst>
          </p:cNvPr>
          <p:cNvSpPr txBox="1"/>
          <p:nvPr/>
        </p:nvSpPr>
        <p:spPr>
          <a:xfrm>
            <a:off x="7680888" y="1693805"/>
            <a:ext cx="3371295" cy="369332"/>
          </a:xfrm>
          <a:prstGeom prst="rect">
            <a:avLst/>
          </a:prstGeom>
          <a:noFill/>
        </p:spPr>
        <p:txBody>
          <a:bodyPr wrap="square">
            <a:spAutoFit/>
          </a:bodyPr>
          <a:lstStyle/>
          <a:p>
            <a:pPr algn="ctr"/>
            <a:r>
              <a:rPr lang="es-MX" dirty="0"/>
              <a:t>Matriz de confusión</a:t>
            </a:r>
          </a:p>
        </p:txBody>
      </p:sp>
      <p:pic>
        <p:nvPicPr>
          <p:cNvPr id="5" name="Imagen 4">
            <a:extLst>
              <a:ext uri="{FF2B5EF4-FFF2-40B4-BE49-F238E27FC236}">
                <a16:creationId xmlns:a16="http://schemas.microsoft.com/office/drawing/2014/main" id="{E587DFD4-18F3-594C-D267-2BB316B89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002" y="1249680"/>
            <a:ext cx="5995428" cy="5425440"/>
          </a:xfrm>
          <a:prstGeom prst="rect">
            <a:avLst/>
          </a:prstGeom>
        </p:spPr>
      </p:pic>
      <p:pic>
        <p:nvPicPr>
          <p:cNvPr id="1026" name="Picture 2" descr="Cómo se evalúan los modelos de Machine Learning en el sector sanitario? |  Sigesa">
            <a:extLst>
              <a:ext uri="{FF2B5EF4-FFF2-40B4-BE49-F238E27FC236}">
                <a16:creationId xmlns:a16="http://schemas.microsoft.com/office/drawing/2014/main" id="{3D84C490-3712-8424-A370-37006AA74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2098" y="3008009"/>
            <a:ext cx="4868873" cy="1558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14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9994320-F604-0AE9-7BCF-B26CBF8D05D9}"/>
            </a:ext>
          </a:extLst>
        </p:cNvPr>
        <p:cNvGrpSpPr/>
        <p:nvPr/>
      </p:nvGrpSpPr>
      <p:grpSpPr>
        <a:xfrm>
          <a:off x="0" y="0"/>
          <a:ext cx="0" cy="0"/>
          <a:chOff x="0" y="0"/>
          <a:chExt cx="0" cy="0"/>
        </a:xfrm>
      </p:grpSpPr>
      <p:pic>
        <p:nvPicPr>
          <p:cNvPr id="1026" name="Picture 2" descr="La sociedad necesita tecnología más humana - Emprendedores: La revista  líder en economía de empresa">
            <a:extLst>
              <a:ext uri="{FF2B5EF4-FFF2-40B4-BE49-F238E27FC236}">
                <a16:creationId xmlns:a16="http://schemas.microsoft.com/office/drawing/2014/main" id="{FE32DCC8-5CC0-0DF8-B624-1AA17F72F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93" y="-65315"/>
            <a:ext cx="12286785" cy="692331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6D2EA8B9-CAF4-2D53-D9B2-3AA4FA13BA73}"/>
              </a:ext>
            </a:extLst>
          </p:cNvPr>
          <p:cNvSpPr txBox="1"/>
          <p:nvPr/>
        </p:nvSpPr>
        <p:spPr>
          <a:xfrm>
            <a:off x="870857" y="5253837"/>
            <a:ext cx="4685211" cy="584775"/>
          </a:xfrm>
          <a:prstGeom prst="rect">
            <a:avLst/>
          </a:prstGeom>
          <a:noFill/>
        </p:spPr>
        <p:txBody>
          <a:bodyPr wrap="square">
            <a:spAutoFit/>
          </a:bodyPr>
          <a:lstStyle/>
          <a:p>
            <a:pPr marL="457200" indent="-457200">
              <a:buFont typeface="Wingdings" panose="05000000000000000000" pitchFamily="2" charset="2"/>
              <a:buChar char="§"/>
            </a:pPr>
            <a:r>
              <a:rPr lang="es-MX" sz="3200" b="1" dirty="0">
                <a:solidFill>
                  <a:schemeClr val="bg2"/>
                </a:solidFill>
                <a:effectLst>
                  <a:outerShdw blurRad="38100" dist="38100" dir="2700000" algn="tl">
                    <a:srgbClr val="000000">
                      <a:alpha val="43137"/>
                    </a:srgbClr>
                  </a:outerShdw>
                </a:effectLst>
              </a:rPr>
              <a:t>Impacto</a:t>
            </a:r>
            <a:endParaRPr lang="es-MX" sz="32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87844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0DEB258E-9C41-8716-CCCC-4B1FBF7972C3}"/>
              </a:ext>
            </a:extLst>
          </p:cNvPr>
          <p:cNvSpPr>
            <a:spLocks noGrp="1"/>
          </p:cNvSpPr>
          <p:nvPr>
            <p:ph type="title"/>
          </p:nvPr>
        </p:nvSpPr>
        <p:spPr>
          <a:xfrm>
            <a:off x="7179850" y="832332"/>
            <a:ext cx="2606858" cy="568894"/>
          </a:xfrm>
        </p:spPr>
        <p:txBody>
          <a:bodyPr>
            <a:noAutofit/>
          </a:bodyPr>
          <a:lstStyle/>
          <a:p>
            <a:r>
              <a:rPr lang="es-ES" sz="1700" cap="none" dirty="0"/>
              <a:t>ECONÓMICO</a:t>
            </a:r>
            <a:endParaRPr lang="es-BO" sz="1700" cap="none" dirty="0"/>
          </a:p>
        </p:txBody>
      </p:sp>
      <p:sp>
        <p:nvSpPr>
          <p:cNvPr id="9" name="Título 1">
            <a:extLst>
              <a:ext uri="{FF2B5EF4-FFF2-40B4-BE49-F238E27FC236}">
                <a16:creationId xmlns:a16="http://schemas.microsoft.com/office/drawing/2014/main" id="{23C6FEFF-8C0F-EBEB-BD20-219204394A9A}"/>
              </a:ext>
            </a:extLst>
          </p:cNvPr>
          <p:cNvSpPr txBox="1">
            <a:spLocks/>
          </p:cNvSpPr>
          <p:nvPr/>
        </p:nvSpPr>
        <p:spPr bwMode="black">
          <a:xfrm>
            <a:off x="2480044" y="832332"/>
            <a:ext cx="2606858" cy="568894"/>
          </a:xfrm>
          <a:prstGeom prst="rect">
            <a:avLst/>
          </a:prstGeom>
          <a:solidFill>
            <a:srgbClr val="FFFFFF"/>
          </a:solidFill>
          <a:ln w="31750" cap="sq">
            <a:solidFill>
              <a:srgbClr val="404040"/>
            </a:solidFill>
            <a:miter lim="800000"/>
          </a:ln>
        </p:spPr>
        <p:txBody>
          <a:bodyPr vert="horz" lIns="182880" tIns="182880" rIns="182880" bIns="182880" rtlCol="0" anchor="ctr">
            <a:normAutofit fontScale="60000" lnSpcReduction="2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s-ES" cap="none" dirty="0"/>
              <a:t>SOCIAL</a:t>
            </a:r>
            <a:endParaRPr lang="es-BO" cap="none" dirty="0"/>
          </a:p>
        </p:txBody>
      </p:sp>
      <p:pic>
        <p:nvPicPr>
          <p:cNvPr id="2058" name="Picture 10" descr="The green arrow is going up the Stacks of coins arranged in a bar graph">
            <a:extLst>
              <a:ext uri="{FF2B5EF4-FFF2-40B4-BE49-F238E27FC236}">
                <a16:creationId xmlns:a16="http://schemas.microsoft.com/office/drawing/2014/main" id="{B492EF57-ABBC-25C9-7D20-690E86C94A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3"/>
          <a:stretch>
            <a:fillRect/>
          </a:stretch>
        </p:blipFill>
        <p:spPr bwMode="auto">
          <a:xfrm>
            <a:off x="6810392" y="2116096"/>
            <a:ext cx="4005555" cy="283884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Young child getting physical abuse from parent">
            <a:extLst>
              <a:ext uri="{FF2B5EF4-FFF2-40B4-BE49-F238E27FC236}">
                <a16:creationId xmlns:a16="http://schemas.microsoft.com/office/drawing/2014/main" id="{F82146F3-57D4-C8D0-154B-779D6B4C0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9270" y="2116096"/>
            <a:ext cx="4252514" cy="2838840"/>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76A6210D-EFAC-E082-B80F-94F41CF144BB}"/>
              </a:ext>
            </a:extLst>
          </p:cNvPr>
          <p:cNvSpPr txBox="1"/>
          <p:nvPr/>
        </p:nvSpPr>
        <p:spPr>
          <a:xfrm>
            <a:off x="7179850" y="5300474"/>
            <a:ext cx="3371295" cy="369332"/>
          </a:xfrm>
          <a:prstGeom prst="rect">
            <a:avLst/>
          </a:prstGeom>
          <a:noFill/>
        </p:spPr>
        <p:txBody>
          <a:bodyPr wrap="square">
            <a:spAutoFit/>
          </a:bodyPr>
          <a:lstStyle/>
          <a:p>
            <a:pPr algn="ctr"/>
            <a:r>
              <a:rPr lang="es-MX" dirty="0"/>
              <a:t>Más productividad</a:t>
            </a:r>
          </a:p>
        </p:txBody>
      </p:sp>
      <p:sp>
        <p:nvSpPr>
          <p:cNvPr id="15" name="CuadroTexto 14">
            <a:extLst>
              <a:ext uri="{FF2B5EF4-FFF2-40B4-BE49-F238E27FC236}">
                <a16:creationId xmlns:a16="http://schemas.microsoft.com/office/drawing/2014/main" id="{C810E230-E49D-CCEB-6DD9-E3AFFBEE8C03}"/>
              </a:ext>
            </a:extLst>
          </p:cNvPr>
          <p:cNvSpPr txBox="1"/>
          <p:nvPr/>
        </p:nvSpPr>
        <p:spPr>
          <a:xfrm>
            <a:off x="2097825" y="5300474"/>
            <a:ext cx="3371295" cy="369332"/>
          </a:xfrm>
          <a:prstGeom prst="rect">
            <a:avLst/>
          </a:prstGeom>
          <a:noFill/>
        </p:spPr>
        <p:txBody>
          <a:bodyPr wrap="square">
            <a:spAutoFit/>
          </a:bodyPr>
          <a:lstStyle/>
          <a:p>
            <a:pPr algn="ctr"/>
            <a:r>
              <a:rPr lang="es-MX" dirty="0"/>
              <a:t>Menos violencia</a:t>
            </a:r>
          </a:p>
        </p:txBody>
      </p:sp>
    </p:spTree>
    <p:extLst>
      <p:ext uri="{BB962C8B-B14F-4D97-AF65-F5344CB8AC3E}">
        <p14:creationId xmlns:p14="http://schemas.microsoft.com/office/powerpoint/2010/main" val="97125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ED214-6412-3BF8-A11E-FB80155AF2A4}"/>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5B4B43DE-5820-18BE-EFC1-59AF7AB320D8}"/>
              </a:ext>
            </a:extLst>
          </p:cNvPr>
          <p:cNvSpPr>
            <a:spLocks noGrp="1"/>
          </p:cNvSpPr>
          <p:nvPr>
            <p:ph type="title"/>
          </p:nvPr>
        </p:nvSpPr>
        <p:spPr>
          <a:xfrm>
            <a:off x="2378167" y="746206"/>
            <a:ext cx="2606858" cy="568894"/>
          </a:xfrm>
        </p:spPr>
        <p:txBody>
          <a:bodyPr>
            <a:noAutofit/>
          </a:bodyPr>
          <a:lstStyle/>
          <a:p>
            <a:r>
              <a:rPr lang="es-ES" sz="1700" cap="none" dirty="0"/>
              <a:t>AMBIENTAL</a:t>
            </a:r>
            <a:endParaRPr lang="es-BO" sz="1700" cap="none" dirty="0"/>
          </a:p>
        </p:txBody>
      </p:sp>
      <p:sp>
        <p:nvSpPr>
          <p:cNvPr id="9" name="Título 1">
            <a:extLst>
              <a:ext uri="{FF2B5EF4-FFF2-40B4-BE49-F238E27FC236}">
                <a16:creationId xmlns:a16="http://schemas.microsoft.com/office/drawing/2014/main" id="{B384808D-BB2C-B113-5F85-7169E0791A1B}"/>
              </a:ext>
            </a:extLst>
          </p:cNvPr>
          <p:cNvSpPr txBox="1">
            <a:spLocks/>
          </p:cNvSpPr>
          <p:nvPr/>
        </p:nvSpPr>
        <p:spPr bwMode="black">
          <a:xfrm>
            <a:off x="7444651" y="746206"/>
            <a:ext cx="2606858" cy="568894"/>
          </a:xfrm>
          <a:prstGeom prst="rect">
            <a:avLst/>
          </a:prstGeom>
          <a:solidFill>
            <a:srgbClr val="FFFFFF"/>
          </a:solidFill>
          <a:ln w="31750" cap="sq">
            <a:solidFill>
              <a:srgbClr val="404040"/>
            </a:solidFill>
            <a:miter lim="800000"/>
          </a:ln>
        </p:spPr>
        <p:txBody>
          <a:bodyPr vert="horz" lIns="182880" tIns="182880" rIns="182880" bIns="182880" rtlCol="0" anchor="ctr">
            <a:normAutofit fontScale="60000" lnSpcReduction="2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s-ES" cap="none" dirty="0"/>
              <a:t>TECNOLÓGICO</a:t>
            </a:r>
            <a:endParaRPr lang="es-BO" cap="none" dirty="0"/>
          </a:p>
        </p:txBody>
      </p:sp>
      <p:pic>
        <p:nvPicPr>
          <p:cNvPr id="15362" name="Picture 2" descr="1.100+ Cámara De Seguridad Cámaras De Circuito Cerrado Cctv En El Parque  Fotografías de stock, fotos e imágenes libres de derechos - iStock">
            <a:extLst>
              <a:ext uri="{FF2B5EF4-FFF2-40B4-BE49-F238E27FC236}">
                <a16:creationId xmlns:a16="http://schemas.microsoft.com/office/drawing/2014/main" id="{2DF064D5-0D8F-3D08-8678-771F60FBFB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3647"/>
          <a:stretch>
            <a:fillRect/>
          </a:stretch>
        </p:blipFill>
        <p:spPr bwMode="auto">
          <a:xfrm>
            <a:off x="1894071" y="1810594"/>
            <a:ext cx="3575050" cy="3121484"/>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A1D86B79-D06B-25A6-ED02-12F0B9D2D698}"/>
              </a:ext>
            </a:extLst>
          </p:cNvPr>
          <p:cNvSpPr txBox="1"/>
          <p:nvPr/>
        </p:nvSpPr>
        <p:spPr>
          <a:xfrm>
            <a:off x="2097826" y="5249805"/>
            <a:ext cx="3371295" cy="369332"/>
          </a:xfrm>
          <a:prstGeom prst="rect">
            <a:avLst/>
          </a:prstGeom>
          <a:noFill/>
        </p:spPr>
        <p:txBody>
          <a:bodyPr wrap="square">
            <a:spAutoFit/>
          </a:bodyPr>
          <a:lstStyle/>
          <a:p>
            <a:pPr algn="ctr"/>
            <a:r>
              <a:rPr lang="es-MX" dirty="0"/>
              <a:t>Más seguridad</a:t>
            </a:r>
          </a:p>
        </p:txBody>
      </p:sp>
      <p:pic>
        <p:nvPicPr>
          <p:cNvPr id="15366" name="Picture 6" descr="Digital Blue Hud Interface Laptop Concept">
            <a:extLst>
              <a:ext uri="{FF2B5EF4-FFF2-40B4-BE49-F238E27FC236}">
                <a16:creationId xmlns:a16="http://schemas.microsoft.com/office/drawing/2014/main" id="{3BC35F1A-C157-9BB4-3D93-17762DD383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00" r="7858"/>
          <a:stretch>
            <a:fillRect/>
          </a:stretch>
        </p:blipFill>
        <p:spPr bwMode="auto">
          <a:xfrm>
            <a:off x="7060216" y="1810594"/>
            <a:ext cx="3312324" cy="312148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6A76AA5B-9BF5-682B-8683-2569CB11BC0C}"/>
              </a:ext>
            </a:extLst>
          </p:cNvPr>
          <p:cNvSpPr txBox="1"/>
          <p:nvPr/>
        </p:nvSpPr>
        <p:spPr>
          <a:xfrm>
            <a:off x="7062433" y="5249805"/>
            <a:ext cx="3371295" cy="369332"/>
          </a:xfrm>
          <a:prstGeom prst="rect">
            <a:avLst/>
          </a:prstGeom>
          <a:noFill/>
        </p:spPr>
        <p:txBody>
          <a:bodyPr wrap="square">
            <a:spAutoFit/>
          </a:bodyPr>
          <a:lstStyle/>
          <a:p>
            <a:pPr algn="ctr"/>
            <a:r>
              <a:rPr lang="es-MX" dirty="0"/>
              <a:t>Avance de la tecnología</a:t>
            </a:r>
          </a:p>
        </p:txBody>
      </p:sp>
    </p:spTree>
    <p:extLst>
      <p:ext uri="{BB962C8B-B14F-4D97-AF65-F5344CB8AC3E}">
        <p14:creationId xmlns:p14="http://schemas.microsoft.com/office/powerpoint/2010/main" val="1888156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C21A232-70A3-61B6-961A-65CE6975DFA4}"/>
              </a:ext>
            </a:extLst>
          </p:cNvPr>
          <p:cNvSpPr>
            <a:spLocks noGrp="1"/>
          </p:cNvSpPr>
          <p:nvPr>
            <p:ph type="title"/>
          </p:nvPr>
        </p:nvSpPr>
        <p:spPr>
          <a:xfrm>
            <a:off x="3828776" y="702559"/>
            <a:ext cx="4534448" cy="568894"/>
          </a:xfrm>
        </p:spPr>
        <p:txBody>
          <a:bodyPr>
            <a:normAutofit fontScale="90000"/>
          </a:bodyPr>
          <a:lstStyle/>
          <a:p>
            <a:r>
              <a:rPr lang="es-ES" cap="none" dirty="0"/>
              <a:t>EQUIPO VISIONSAFE</a:t>
            </a:r>
            <a:endParaRPr lang="es-BO" cap="none" dirty="0"/>
          </a:p>
        </p:txBody>
      </p:sp>
      <p:pic>
        <p:nvPicPr>
          <p:cNvPr id="12290" name="Picture 2" descr="Blue Circle With White User">
            <a:extLst>
              <a:ext uri="{FF2B5EF4-FFF2-40B4-BE49-F238E27FC236}">
                <a16:creationId xmlns:a16="http://schemas.microsoft.com/office/drawing/2014/main" id="{4F8829E7-B051-1219-9564-EC34E9B6B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850" y="2383971"/>
            <a:ext cx="2090057" cy="209005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4" name="Picture 2" descr="Blue Circle With White User">
            <a:extLst>
              <a:ext uri="{FF2B5EF4-FFF2-40B4-BE49-F238E27FC236}">
                <a16:creationId xmlns:a16="http://schemas.microsoft.com/office/drawing/2014/main" id="{2BD1C3E7-C6F7-F70C-2177-232E62D0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1702" y="2383971"/>
            <a:ext cx="2090057" cy="209005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5" name="Picture 2" descr="Blue Circle With White User">
            <a:extLst>
              <a:ext uri="{FF2B5EF4-FFF2-40B4-BE49-F238E27FC236}">
                <a16:creationId xmlns:a16="http://schemas.microsoft.com/office/drawing/2014/main" id="{AFDC22BF-7F6D-CB97-7ACE-A20EEB75F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9554" y="2383971"/>
            <a:ext cx="2090057" cy="209005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C276851-787F-9FBA-EB69-8B1ED23DF516}"/>
              </a:ext>
            </a:extLst>
          </p:cNvPr>
          <p:cNvSpPr txBox="1"/>
          <p:nvPr/>
        </p:nvSpPr>
        <p:spPr>
          <a:xfrm>
            <a:off x="1917244" y="4596340"/>
            <a:ext cx="2090058" cy="646331"/>
          </a:xfrm>
          <a:prstGeom prst="rect">
            <a:avLst/>
          </a:prstGeom>
          <a:noFill/>
        </p:spPr>
        <p:txBody>
          <a:bodyPr wrap="square">
            <a:spAutoFit/>
          </a:bodyPr>
          <a:lstStyle/>
          <a:p>
            <a:pPr algn="ctr"/>
            <a:r>
              <a:rPr lang="es-MX" dirty="0"/>
              <a:t>Junior Huanca Acebo</a:t>
            </a:r>
          </a:p>
        </p:txBody>
      </p:sp>
      <p:sp>
        <p:nvSpPr>
          <p:cNvPr id="8" name="CuadroTexto 7">
            <a:extLst>
              <a:ext uri="{FF2B5EF4-FFF2-40B4-BE49-F238E27FC236}">
                <a16:creationId xmlns:a16="http://schemas.microsoft.com/office/drawing/2014/main" id="{31427E66-90E3-1DA2-42B6-55BA5BBE3E13}"/>
              </a:ext>
            </a:extLst>
          </p:cNvPr>
          <p:cNvSpPr txBox="1"/>
          <p:nvPr/>
        </p:nvSpPr>
        <p:spPr>
          <a:xfrm>
            <a:off x="7812947" y="4596340"/>
            <a:ext cx="2203269" cy="646331"/>
          </a:xfrm>
          <a:prstGeom prst="rect">
            <a:avLst/>
          </a:prstGeom>
          <a:noFill/>
        </p:spPr>
        <p:txBody>
          <a:bodyPr wrap="square">
            <a:spAutoFit/>
          </a:bodyPr>
          <a:lstStyle/>
          <a:p>
            <a:pPr algn="ctr"/>
            <a:r>
              <a:rPr lang="es-MX" dirty="0"/>
              <a:t>Fernando Chipana Rivero</a:t>
            </a:r>
          </a:p>
        </p:txBody>
      </p:sp>
      <p:sp>
        <p:nvSpPr>
          <p:cNvPr id="9" name="CuadroTexto 8">
            <a:extLst>
              <a:ext uri="{FF2B5EF4-FFF2-40B4-BE49-F238E27FC236}">
                <a16:creationId xmlns:a16="http://schemas.microsoft.com/office/drawing/2014/main" id="{9F2C5668-B10F-0E39-9988-BD6F74AFE335}"/>
              </a:ext>
            </a:extLst>
          </p:cNvPr>
          <p:cNvSpPr txBox="1"/>
          <p:nvPr/>
        </p:nvSpPr>
        <p:spPr>
          <a:xfrm>
            <a:off x="4865095" y="4596340"/>
            <a:ext cx="2203269" cy="646331"/>
          </a:xfrm>
          <a:prstGeom prst="rect">
            <a:avLst/>
          </a:prstGeom>
          <a:noFill/>
        </p:spPr>
        <p:txBody>
          <a:bodyPr wrap="square">
            <a:spAutoFit/>
          </a:bodyPr>
          <a:lstStyle/>
          <a:p>
            <a:pPr algn="ctr"/>
            <a:r>
              <a:rPr lang="es-MX" dirty="0"/>
              <a:t>Erik Zambrana Román</a:t>
            </a:r>
          </a:p>
        </p:txBody>
      </p:sp>
    </p:spTree>
    <p:extLst>
      <p:ext uri="{BB962C8B-B14F-4D97-AF65-F5344CB8AC3E}">
        <p14:creationId xmlns:p14="http://schemas.microsoft.com/office/powerpoint/2010/main" val="1606449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que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que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Retrospect</Template>
  <TotalTime>1515</TotalTime>
  <Words>188</Words>
  <Application>Microsoft Office PowerPoint</Application>
  <PresentationFormat>Panorámica</PresentationFormat>
  <Paragraphs>47</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-apple-system</vt:lpstr>
      <vt:lpstr>Arial</vt:lpstr>
      <vt:lpstr>Gill Sans MT</vt:lpstr>
      <vt:lpstr>Wingdings</vt:lpstr>
      <vt:lpstr>Paquete</vt:lpstr>
      <vt:lpstr>VISIONSAFE</vt:lpstr>
      <vt:lpstr>Presentación de PowerPoint</vt:lpstr>
      <vt:lpstr>PROBLEMA</vt:lpstr>
      <vt:lpstr>SOLUCIÓN</vt:lpstr>
      <vt:lpstr>Presentación de PowerPoint</vt:lpstr>
      <vt:lpstr>SOFTWARE</vt:lpstr>
      <vt:lpstr>Presentación de PowerPoint</vt:lpstr>
      <vt:lpstr>METODOLOGIA APLICADA</vt:lpstr>
      <vt:lpstr>Presentación de PowerPoint</vt:lpstr>
      <vt:lpstr>SEGMENTO DE CLIENTES</vt:lpstr>
      <vt:lpstr>Presentación de PowerPoint</vt:lpstr>
      <vt:lpstr>RESULTADOS OBTENIDOS</vt:lpstr>
      <vt:lpstr>RESULTADOS OBTENIDOS</vt:lpstr>
      <vt:lpstr>Presentación de PowerPoint</vt:lpstr>
      <vt:lpstr>ECONÓMICO</vt:lpstr>
      <vt:lpstr>AMBIENTAL</vt:lpstr>
      <vt:lpstr>EQUIPO VISIONSAFE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FertiMarket</dc:title>
  <dc:creator>iMatihc ㅤ</dc:creator>
  <cp:lastModifiedBy>Junior Sesario Huanca Acebo</cp:lastModifiedBy>
  <cp:revision>36</cp:revision>
  <dcterms:created xsi:type="dcterms:W3CDTF">2025-03-12T23:33:39Z</dcterms:created>
  <dcterms:modified xsi:type="dcterms:W3CDTF">2025-06-26T02:19:12Z</dcterms:modified>
</cp:coreProperties>
</file>